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ndika"/>
      <p:regular r:id="rId201314"/>
    </p:embeddedFont>
    <p:embeddedFont>
      <p:font typeface="Andika Bold"/>
      <p:regular r:id="rId201315"/>
    </p:embeddedFont>
    <p:embeddedFont>
      <p:font typeface="Caprasimo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1F4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1F4D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4681" y="1841500"/>
            <a:ext cx="111503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5" kern="100" dirty="0">
                <a:solidFill>
                  <a:srgbClr val="FFFFFF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CUSTOMER SHOPPING BEHAVIOR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4681" y="2181225"/>
            <a:ext cx="10540736" cy="2240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5600" spc="-56" kern="100" dirty="0">
                <a:solidFill>
                  <a:srgbClr val="FFFFFF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Customer shopping behavior has a loyalty problem, not a demand problem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74681" y="4675386"/>
            <a:ext cx="1115032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An executive read of 3,900 purchases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5" kern="100" dirty="0">
                <a:solidFill>
                  <a:srgbClr val="A52B22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THE BASE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189" y="796925"/>
            <a:ext cx="11277318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18" kern="100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3,900 purchases reveal a broad, measurable customer base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2010966"/>
            <a:ext cx="3555911" cy="3699371"/>
          </a:xfrm>
          <a:prstGeom prst="roundRect">
            <a:avLst>
              <a:gd name="adj" fmla="val 771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5730" dist="24130" dir="5400000">
              <a:srgbClr val="2e1a3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6582" y="2290366"/>
            <a:ext cx="2997125" cy="96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7200" spc="-72" kern="100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3,900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6582" y="3504406"/>
            <a:ext cx="29971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transactions across 25 products, 4 categories, 50 locations, and 4 seasons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17892" y="2010966"/>
            <a:ext cx="3555911" cy="3699371"/>
          </a:xfrm>
          <a:prstGeom prst="roundRect">
            <a:avLst>
              <a:gd name="adj" fmla="val 771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5730" dist="24130" dir="5400000">
              <a:srgbClr val="2e1a3b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7285" y="2290366"/>
            <a:ext cx="2997125" cy="96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7200" spc="-72" kern="100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$59.76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97285" y="3504406"/>
            <a:ext cx="327651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average purchase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97285" y="4058444"/>
            <a:ext cx="988889" cy="31651"/>
          </a:xfrm>
          <a:prstGeom prst="roundRect">
            <a:avLst>
              <a:gd name="adj" fmla="val 49998"/>
            </a:avLst>
          </a:prstGeom>
          <a:solidFill>
            <a:srgbClr val="D2BD98"/>
          </a:solidFill>
          <a:ln/>
        </p:spPr>
      </p:sp>
      <p:sp>
        <p:nvSpPr>
          <p:cNvPr id="11" name="Text 9"/>
          <p:cNvSpPr/>
          <p:nvPr/>
        </p:nvSpPr>
        <p:spPr>
          <a:xfrm>
            <a:off x="4597285" y="4380706"/>
            <a:ext cx="2997125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34" kern="100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3.75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97285" y="5088037"/>
            <a:ext cx="327651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average review rating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78595" y="2010966"/>
            <a:ext cx="3555911" cy="3699371"/>
          </a:xfrm>
          <a:prstGeom prst="roundRect">
            <a:avLst>
              <a:gd name="adj" fmla="val 7714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5730" dist="24130" dir="5400000">
              <a:srgbClr val="2e1a3b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7988" y="2290366"/>
            <a:ext cx="29971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What the data holds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57988" y="3236516"/>
            <a:ext cx="29971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Demographics, product choice, discount behavior, shipping, reviews, and subscription status.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38794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5" kern="100" dirty="0">
                <a:solidFill>
                  <a:srgbClr val="A52B22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REVENUE BY GENDER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189" y="796925"/>
            <a:ext cx="5930752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18" kern="100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The gap is a targeting signal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2010966"/>
            <a:ext cx="5930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Male customers generated $157,890 in revenue versus $75,191 from female customers.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8179" y="3001566"/>
            <a:ext cx="55497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Test category, offer, and message fit rather than assuming one universal customer profile.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189" y="2925366"/>
            <a:ext cx="28574" cy="838200"/>
          </a:xfrm>
          <a:prstGeom prst="roundRect">
            <a:avLst>
              <a:gd name="adj" fmla="val 50000"/>
            </a:avLst>
          </a:prstGeom>
          <a:solidFill>
            <a:srgbClr val="C235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506" y="2287191"/>
            <a:ext cx="3975001" cy="228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58359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5" kern="100" dirty="0">
                <a:solidFill>
                  <a:srgbClr val="A52B22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REVENUE BY CATEGORY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189" y="796925"/>
            <a:ext cx="6126406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18" kern="100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Clothing and accessories carry the business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3564533"/>
            <a:ext cx="612640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Category leaders include Jewelry, Sunglasses, Belt, Blouse, Pants, Shirt, Sandals, Shoes, Sneakers, Jacket, and Coat.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061" y="1613198"/>
            <a:ext cx="3779445" cy="22917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061" y="4006552"/>
            <a:ext cx="377944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E4A68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Dashboard revenue: Clothing approximately $90K; Accessories approximately $70K; Footwear approximately $30K; Outerwear approximately $15K.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1923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5" kern="100" dirty="0">
                <a:solidFill>
                  <a:srgbClr val="A52B22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REVENUE BY AGE GROUP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189" y="796925"/>
            <a:ext cx="5735196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18" kern="100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Young adults lead, but no single age group dominates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3975993"/>
            <a:ext cx="57351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The narrow spread supports differentiated creative, not a single age-based strategy.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3851" y="2190849"/>
            <a:ext cx="4170655" cy="24763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38794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5" kern="100" dirty="0">
                <a:solidFill>
                  <a:srgbClr val="A52B22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LOYALTY → SUBSCRIPTION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189" y="796925"/>
            <a:ext cx="5930752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18" kern="100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The base is loyal, but loyalty is not translating into subscriptions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2490986"/>
            <a:ext cx="638794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Only 27% of customers subscribe; 73% do not.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8179" y="3138686"/>
            <a:ext cx="55497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Subscribers average $59.49 per purchase versus $59.87 for non-subscribers.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189" y="3062486"/>
            <a:ext cx="28574" cy="838200"/>
          </a:xfrm>
          <a:prstGeom prst="roundRect">
            <a:avLst>
              <a:gd name="adj" fmla="val 50000"/>
            </a:avLst>
          </a:prstGeom>
          <a:solidFill>
            <a:srgbClr val="C235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506" y="2160389"/>
            <a:ext cx="3975001" cy="25372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19238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5" kern="100" dirty="0">
                <a:solidFill>
                  <a:srgbClr val="A52B22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DISCOUNT DEPENDENCE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189" y="796925"/>
            <a:ext cx="5735196" cy="192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18" kern="100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Discounts attract spend, but product-level dependence threatens margin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2971006"/>
            <a:ext cx="57351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839 customers used discounts while spending above the average purchase amount.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3885406"/>
            <a:ext cx="619238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E4A68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Sweater and Pants also exceed 47% discounted purchases.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3851" y="2125663"/>
            <a:ext cx="4170655" cy="2606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027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16990" y="457200"/>
            <a:ext cx="697470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5" kern="100" dirty="0">
                <a:solidFill>
                  <a:srgbClr val="A52B22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PRODUCT + DELIVERY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216990" y="796925"/>
            <a:ext cx="6517517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18" kern="100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Product quality and delivery experience are steady levers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216990" y="2490986"/>
            <a:ext cx="3106362" cy="2432050"/>
          </a:xfrm>
          <a:prstGeom prst="roundRect">
            <a:avLst>
              <a:gd name="adj" fmla="val 112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5730" dist="24130" dir="5400000">
              <a:srgbClr val="2e1a3b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45584" y="2719586"/>
            <a:ext cx="264917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Top-rated products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45584" y="3665736"/>
            <a:ext cx="264917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Gloves 3.86 · Sandals 3.84 · Boots 3.82 · Hat 3.80 · Skirt 3.78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28144" y="2490986"/>
            <a:ext cx="3106362" cy="2432050"/>
          </a:xfrm>
          <a:prstGeom prst="roundRect">
            <a:avLst>
              <a:gd name="adj" fmla="val 11279"/>
            </a:avLst>
          </a:prstGeom>
          <a:solidFill>
            <a:srgbClr val="FFFDF8"/>
          </a:solidFill>
          <a:ln/>
          <a:effectLst>
            <a:outerShdw sx="100000" sy="100000" kx="0" ky="0" algn="bl" rotWithShape="0" blurRad="125730" dist="24130" dir="5400000">
              <a:srgbClr val="2e1a3b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856739" y="2719586"/>
            <a:ext cx="264917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Shipping signal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856739" y="3284736"/>
            <a:ext cx="26491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Express-shipping orders average $60.48 versus $58.46 for Standard.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216990" y="5151636"/>
            <a:ext cx="65175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Use best-rated products in campaigns and test express-shipping messaging as a conversion lever.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717026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5" kern="100" dirty="0">
                <a:solidFill>
                  <a:srgbClr val="A52B22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FROM SIGNALS TO GROWTH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189" y="796925"/>
            <a:ext cx="6713072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18" kern="100" dirty="0">
                <a:solidFill>
                  <a:srgbClr val="2E1A3B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Five moves can turn behavior signals into growth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2010966"/>
            <a:ext cx="388432" cy="388441"/>
          </a:xfrm>
          <a:prstGeom prst="ellipse">
            <a:avLst/>
          </a:prstGeom>
          <a:solidFill>
            <a:srgbClr val="5E7B2E"/>
          </a:solidFill>
          <a:ln/>
        </p:spPr>
      </p:sp>
      <p:sp>
        <p:nvSpPr>
          <p:cNvPr id="5" name="Text 3"/>
          <p:cNvSpPr/>
          <p:nvPr/>
        </p:nvSpPr>
        <p:spPr>
          <a:xfrm>
            <a:off x="520687" y="2097187"/>
            <a:ext cx="8710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BF7EE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9614" y="2020987"/>
            <a:ext cx="60706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Convert loyal non-subscribers with exclusive benefits and clearer value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189" y="2859187"/>
            <a:ext cx="388432" cy="388441"/>
          </a:xfrm>
          <a:prstGeom prst="ellipse">
            <a:avLst/>
          </a:prstGeom>
          <a:solidFill>
            <a:srgbClr val="5E7B2E"/>
          </a:solidFill>
          <a:ln/>
        </p:spPr>
      </p:sp>
      <p:sp>
        <p:nvSpPr>
          <p:cNvPr id="8" name="Text 6"/>
          <p:cNvSpPr/>
          <p:nvPr/>
        </p:nvSpPr>
        <p:spPr>
          <a:xfrm>
            <a:off x="520687" y="2945408"/>
            <a:ext cx="8710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BF7EE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9614" y="2869208"/>
            <a:ext cx="60706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Reward repeat buyers to deepen movement into the Loyal segment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189" y="3707408"/>
            <a:ext cx="388432" cy="388441"/>
          </a:xfrm>
          <a:prstGeom prst="ellipse">
            <a:avLst/>
          </a:prstGeom>
          <a:solidFill>
            <a:srgbClr val="5E7B2E"/>
          </a:solidFill>
          <a:ln/>
        </p:spPr>
      </p:sp>
      <p:sp>
        <p:nvSpPr>
          <p:cNvPr id="11" name="Text 9"/>
          <p:cNvSpPr/>
          <p:nvPr/>
        </p:nvSpPr>
        <p:spPr>
          <a:xfrm>
            <a:off x="520687" y="3793629"/>
            <a:ext cx="8710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BF7EE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9614" y="3717429"/>
            <a:ext cx="60706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Replace blanket discounts with product-level margin rules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189" y="4555629"/>
            <a:ext cx="388432" cy="388441"/>
          </a:xfrm>
          <a:prstGeom prst="ellipse">
            <a:avLst/>
          </a:prstGeom>
          <a:solidFill>
            <a:srgbClr val="5E7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20687" y="4641850"/>
            <a:ext cx="8710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BF7EE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9614" y="4565650"/>
            <a:ext cx="60706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Feature top-rated and best-selling products in campaigns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189" y="5403850"/>
            <a:ext cx="388432" cy="388441"/>
          </a:xfrm>
          <a:prstGeom prst="ellipse">
            <a:avLst/>
          </a:prstGeom>
          <a:solidFill>
            <a:srgbClr val="5E7B2E"/>
          </a:solidFill>
          <a:ln/>
        </p:spPr>
      </p:sp>
      <p:sp>
        <p:nvSpPr>
          <p:cNvPr id="17" name="Text 15"/>
          <p:cNvSpPr/>
          <p:nvPr/>
        </p:nvSpPr>
        <p:spPr>
          <a:xfrm>
            <a:off x="520687" y="5490071"/>
            <a:ext cx="8710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FBF7EE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05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99614" y="5413871"/>
            <a:ext cx="60706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E1A3B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Tailor creative by age group, category, and shipping preference</a:t>
            </a:r>
            <a:endParaRPr lang="en-US" sz="2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4538" y="0"/>
            <a:ext cx="41071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7572" y="2220913"/>
            <a:ext cx="1056613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5" kern="100" dirty="0">
                <a:solidFill>
                  <a:srgbClr val="FFFFFF"/>
                </a:solidFill>
                <a:latin typeface="Andika Bold" pitchFamily="34" charset="0"/>
                <a:ea typeface="Andika Bold" pitchFamily="34" charset="-122"/>
                <a:cs typeface="Andika Bold" pitchFamily="34" charset="-120"/>
              </a:rPr>
              <a:t>SOURCE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17572" y="2560638"/>
            <a:ext cx="9956551" cy="96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7200" spc="-72" kern="100" dirty="0">
                <a:solidFill>
                  <a:srgbClr val="FFFFFF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Source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17572" y="3884315"/>
            <a:ext cx="3285547" cy="50701"/>
          </a:xfrm>
          <a:prstGeom prst="roundRect">
            <a:avLst>
              <a:gd name="adj" fmla="val 49999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1117572" y="4225627"/>
            <a:ext cx="1056613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ndika" pitchFamily="34" charset="0"/>
                <a:ea typeface="Andika" pitchFamily="34" charset="-122"/>
                <a:cs typeface="Andika" pitchFamily="34" charset="-120"/>
              </a:rPr>
              <a:t>Customer Shopping Behavior Analysis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2026-10-05T16:25:03Z</dcterms:created>
  <dcterms:modified xsi:type="dcterms:W3CDTF">2026-10-05T16:25:03Z</dcterms:modified>
</cp:coreProperties>
</file>